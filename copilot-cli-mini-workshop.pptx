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84600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411480" y="0"/>
            <a:ext cx="73152" cy="685800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097280" y="1188720"/>
            <a:ext cx="2194560" cy="411480"/>
          </a:xfrm>
          <a:prstGeom prst="roundRect">
            <a:avLst>
              <a:gd name="adj" fmla="val 1111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097280" y="11887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copilot --beginner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18288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CLI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1097280" y="274320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입문 핵심 정리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097280" y="3657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터미널에서 만나는 AI 코딩 어시스턴트 — 8개 챕터 한눈에 보기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97280" y="47548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61B22"/>
          </a:solidFill>
          <a:ln w="1905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97280" y="4754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783080" y="47548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783080" y="4754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468880" y="47548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2468880" y="4754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154680" y="47548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61B22"/>
          </a:solidFill>
          <a:ln w="1905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154680" y="4754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840480" y="47548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61B22"/>
          </a:solidFill>
          <a:ln w="1905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840480" y="4754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26280" y="47548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61B22"/>
          </a:solidFill>
          <a:ln w="19050">
            <a:solidFill>
              <a:srgbClr val="F778B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526280" y="4754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778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212080" y="47548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61B22"/>
          </a:solidFill>
          <a:ln w="1905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212080" y="4754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897880" y="47548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897880" y="4754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97280" y="58521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github/copilot-cli-for-beginners 기반 요약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772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학습 로드맵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4173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chapters at a glance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2697480" cy="1920240"/>
          </a:xfrm>
          <a:prstGeom prst="roundRect">
            <a:avLst>
              <a:gd name="adj" fmla="val 381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2697480" cy="7315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27889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Start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2918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설치 · 인증 · Codespaces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2011680"/>
            <a:ext cx="2697480" cy="1920240"/>
          </a:xfrm>
          <a:prstGeom prst="roundRect">
            <a:avLst>
              <a:gd name="adj" fmla="val 381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3291840" y="2011680"/>
            <a:ext cx="2697480" cy="7315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474720" y="21945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474720" y="27889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Steps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74720" y="32918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3가지 모드 · 첫 데모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2011680"/>
            <a:ext cx="2697480" cy="1920240"/>
          </a:xfrm>
          <a:prstGeom prst="roundRect">
            <a:avLst>
              <a:gd name="adj" fmla="val 381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6126480" y="2011680"/>
            <a:ext cx="2697480" cy="73152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309360" y="21945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309360" y="27889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&amp; Conversations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09360" y="32918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 파일 참조 · 세션 관리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961120" y="2011680"/>
            <a:ext cx="2697480" cy="1920240"/>
          </a:xfrm>
          <a:prstGeom prst="roundRect">
            <a:avLst>
              <a:gd name="adj" fmla="val 381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8961120" y="2011680"/>
            <a:ext cx="2697480" cy="73152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9144000" y="21945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9144000" y="27889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Workflows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44000" y="32918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리뷰 · 리팩터 · 디버깅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069080"/>
            <a:ext cx="2697480" cy="1920240"/>
          </a:xfrm>
          <a:prstGeom prst="roundRect">
            <a:avLst>
              <a:gd name="adj" fmla="val 381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457200" y="4069080"/>
            <a:ext cx="2697480" cy="73152"/>
          </a:xfrm>
          <a:prstGeom prst="rect">
            <a:avLst/>
          </a:prstGeom>
          <a:solidFill>
            <a:srgbClr val="F778BA"/>
          </a:solidFill>
          <a:ln w="12700">
            <a:solidFill>
              <a:srgbClr val="F778B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40080" y="42519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778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40080" y="48463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0080" y="53492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내장 + 커스텀 .agent.md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291840" y="4069080"/>
            <a:ext cx="2697480" cy="1920240"/>
          </a:xfrm>
          <a:prstGeom prst="roundRect">
            <a:avLst>
              <a:gd name="adj" fmla="val 381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3291840" y="4069080"/>
            <a:ext cx="2697480" cy="73152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3474720" y="42519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3474720" y="48463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474720" y="53492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SKILL.md · 자동 호출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126480" y="4069080"/>
            <a:ext cx="2697480" cy="1920240"/>
          </a:xfrm>
          <a:prstGeom prst="roundRect">
            <a:avLst>
              <a:gd name="adj" fmla="val 381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6126480" y="4069080"/>
            <a:ext cx="2697480" cy="7315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6309360" y="42519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6309360" y="48463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309360" y="53492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· 파일 · Context7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961120" y="4069080"/>
            <a:ext cx="2697480" cy="1920240"/>
          </a:xfrm>
          <a:prstGeom prst="roundRect">
            <a:avLst>
              <a:gd name="adj" fmla="val 381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8961120" y="4069080"/>
            <a:ext cx="2697480" cy="7315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9144000" y="42519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2800" dirty="0"/>
          </a:p>
        </p:txBody>
      </p:sp>
      <p:sp>
        <p:nvSpPr>
          <p:cNvPr id="42" name="Text 40"/>
          <p:cNvSpPr/>
          <p:nvPr/>
        </p:nvSpPr>
        <p:spPr>
          <a:xfrm>
            <a:off x="9144000" y="48463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All Together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144000" y="53492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오케스트라 · /pr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CLI 입문 · 핵심 정리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772400" y="6492240"/>
            <a:ext cx="3959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463040" cy="411480"/>
          </a:xfrm>
          <a:prstGeom prst="roundRect">
            <a:avLst>
              <a:gd name="adj" fmla="val 48889"/>
            </a:avLst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Start — 설치와 첫 인증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· /login · Codespaces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5486400" cy="4114800"/>
          </a:xfrm>
          <a:prstGeom prst="roundRect">
            <a:avLst>
              <a:gd name="adj" fmla="val 222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5486400" cy="36576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40080" y="2121408"/>
            <a:ext cx="146304" cy="146304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68680" y="2121408"/>
            <a:ext cx="146304" cy="146304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097280" y="2121408"/>
            <a:ext cx="146304" cy="146304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371600" y="2011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 — 설치 옵션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25146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macOS / Linux (npm)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27889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-g @github/copilot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85800" y="322783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macOS (Homebrew)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350215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brew install --cask github-copilot-cli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85800" y="394106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Windows (winget)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421538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winget install GitHub.CopilotCLI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85800" y="465429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빠른 설치 스크립트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" y="492861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-fsSL https://gh.io/copilot-cli | sh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85800" y="536752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시작 + 디바이스 인증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" y="564184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   →   /login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17920" y="201168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6217920" y="2011680"/>
            <a:ext cx="91440" cy="9144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446520" y="21031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 준비물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46520" y="246888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계정 + Copilot 구독 (Free / Pro / Business)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17920" y="3035808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6217920" y="3035808"/>
            <a:ext cx="91440" cy="91440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6446520" y="312724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/login 인증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446520" y="3493008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디바이스 코드를 브라우저에 입력 → 한 번만 진행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17920" y="4059936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6217920" y="4059936"/>
            <a:ext cx="91440" cy="91440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6446520" y="4151376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Zero-Setup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446520" y="4517136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Codespaces로 실습하면 설치 없이 바로 시작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17920" y="5084064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6217920" y="5084064"/>
            <a:ext cx="91440" cy="91440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6446520" y="5175504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/help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446520" y="5541264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세션 안에서 명령어 목록과 단축키 확인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CLI 입문 · 핵심 정리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772400" y="6492240"/>
            <a:ext cx="3959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 · Quick Start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463040" cy="411480"/>
          </a:xfrm>
          <a:prstGeom prst="roundRect">
            <a:avLst>
              <a:gd name="adj" fmla="val 48889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Steps — 3가지 상호작용 모드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· Plan · Programmatic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3703320" cy="3474720"/>
          </a:xfrm>
          <a:prstGeom prst="roundRect">
            <a:avLst>
              <a:gd name="adj" fmla="val 315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3703320" cy="10972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777240" y="2331720"/>
            <a:ext cx="777240" cy="777240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77240" y="23317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💬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691640" y="23317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91640" y="27432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🍴 웨이터와 대화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337560"/>
            <a:ext cx="3154680" cy="457200"/>
          </a:xfrm>
          <a:prstGeom prst="roundRect">
            <a:avLst>
              <a:gd name="adj" fmla="val 12000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731520" y="33375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3931920"/>
            <a:ext cx="31546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탐색 · 반복 · 다중 턴 대화. 컨텍스트가 자연스럽게 누적됨. 가장 먼저 익혀야 할 모드.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43400" y="2011680"/>
            <a:ext cx="3703320" cy="3474720"/>
          </a:xfrm>
          <a:prstGeom prst="roundRect">
            <a:avLst>
              <a:gd name="adj" fmla="val 315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4343400" y="2011680"/>
            <a:ext cx="3703320" cy="109728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4663440" y="2331720"/>
            <a:ext cx="777240" cy="777240"/>
          </a:xfrm>
          <a:prstGeom prst="ellipse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663440" y="23317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🗺️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577840" y="23317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577840" y="27432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🍴 GPS로 경로 설계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17720" y="3337560"/>
            <a:ext cx="3154680" cy="457200"/>
          </a:xfrm>
          <a:prstGeom prst="roundRect">
            <a:avLst>
              <a:gd name="adj" fmla="val 12000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617720" y="33375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/plan  또는  Shift+Tab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17720" y="3931920"/>
            <a:ext cx="31546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복잡한 작업 전에 단계별 계획을 먼저 검토. 동의 후 구현 진행. 큰 기능에 적합.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229600" y="2011680"/>
            <a:ext cx="3703320" cy="3474720"/>
          </a:xfrm>
          <a:prstGeom prst="roundRect">
            <a:avLst>
              <a:gd name="adj" fmla="val 315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8229600" y="2011680"/>
            <a:ext cx="3703320" cy="109728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8549640" y="2331720"/>
            <a:ext cx="777240" cy="777240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8549640" y="23317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9464040" y="23317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Programmatic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9464040" y="27432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🍴 드라이브스루 주문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503920" y="3337560"/>
            <a:ext cx="3154680" cy="457200"/>
          </a:xfrm>
          <a:prstGeom prst="roundRect">
            <a:avLst>
              <a:gd name="adj" fmla="val 12000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8503920" y="33375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 -p "..."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503920" y="3931920"/>
            <a:ext cx="31546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스크립트 · CI/CD · 한 방 명령. 입력 → 출력 → 종료. --allow-all 은 신뢰 환경에서만.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57150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데모: ① 코드 리뷰  ② 코드 설명  ③ 함수 생성  →  모두 한 세션에서 연결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CLI 입문 · 핵심 정리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772400" y="6492240"/>
            <a:ext cx="3959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First Steps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463040" cy="411480"/>
          </a:xfrm>
          <a:prstGeom prst="roundRect">
            <a:avLst>
              <a:gd name="adj" fmla="val 48889"/>
            </a:avLst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&amp; Conversations — 컨텍스트로 똑똑해지기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 references · sessions · /share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5486400" cy="2194560"/>
          </a:xfrm>
          <a:prstGeom prst="roundRect">
            <a:avLst>
              <a:gd name="adj" fmla="val 416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 파일 참조 (가장 중요!)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51206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단일 파일:    @samples/book_app.py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다중 파일:    @file1.py @file2.py 비교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디렉터리:     @samples/  →  하위 전체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파일 포함:    Review @utils.py and add tests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4343400"/>
            <a:ext cx="5486400" cy="1783080"/>
          </a:xfrm>
          <a:prstGeom prst="roundRect">
            <a:avLst>
              <a:gd name="adj" fmla="val 512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40080" y="44348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세션 관리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480060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 --continue          이전 세션 이어가기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 --resume            세션 목록에서 선택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/clear                       대화 초기화 · 컨텍스트 리셋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/exit                        세션 종료 (히스토리 저장)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2011680"/>
            <a:ext cx="5486400" cy="960120"/>
          </a:xfrm>
          <a:prstGeom prst="roundRect">
            <a:avLst>
              <a:gd name="adj" fmla="val 761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217920" y="2011680"/>
            <a:ext cx="91440" cy="9601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446520" y="212140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컨텍스트는 통화량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46520" y="251460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긴 대화일수록 토큰 사용. 주제 바뀌면 /clear 로 새로 시작.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3081528"/>
            <a:ext cx="5486400" cy="960120"/>
          </a:xfrm>
          <a:prstGeom prst="roundRect">
            <a:avLst>
              <a:gd name="adj" fmla="val 761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217920" y="3081528"/>
            <a:ext cx="91440" cy="96012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446520" y="3191256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/share 로 공유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46520" y="3584448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· GitHub Gist · 자체 HTML로 세션을 내보내기.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17920" y="4151376"/>
            <a:ext cx="5486400" cy="960120"/>
          </a:xfrm>
          <a:prstGeom prst="roundRect">
            <a:avLst>
              <a:gd name="adj" fmla="val 761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6217920" y="4151376"/>
            <a:ext cx="91440" cy="96012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446520" y="4261104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/mcp auth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46520" y="4654296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서버를 OAuth로 인증해 외부 서비스 접근 권한 부여.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17920" y="5221224"/>
            <a:ext cx="5486400" cy="960120"/>
          </a:xfrm>
          <a:prstGeom prst="roundRect">
            <a:avLst>
              <a:gd name="adj" fmla="val 761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6217920" y="5221224"/>
            <a:ext cx="91440" cy="960120"/>
          </a:xfrm>
          <a:prstGeom prst="rect">
            <a:avLst/>
          </a:prstGeom>
          <a:solidFill>
            <a:srgbClr val="F778BA"/>
          </a:solidFill>
          <a:ln w="12700">
            <a:solidFill>
              <a:srgbClr val="F778B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446520" y="533095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 는 만능키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446520" y="5724144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파일을 ‘업로드’하지 말고 경로로 가리키기 — 빠르고 정확.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CLI 입문 · 핵심 정리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772400" y="6492240"/>
            <a:ext cx="3959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Context &amp; Conversations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463040" cy="411480"/>
          </a:xfrm>
          <a:prstGeom prst="roundRect">
            <a:avLst>
              <a:gd name="adj" fmla="val 48889"/>
            </a:avLst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Workflows — 5가지 핵심 워크플로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· Refactor · Debug · Test · Git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11274552" cy="713232"/>
          </a:xfrm>
          <a:prstGeom prst="roundRect">
            <a:avLst>
              <a:gd name="adj" fmla="val 1025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94360" y="2103120"/>
            <a:ext cx="438912" cy="438912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94360" y="21031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203911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235000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· 성능 · 가독성 이슈를 즉시 진단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80560" y="2130552"/>
            <a:ext cx="7132320" cy="384048"/>
          </a:xfrm>
          <a:prstGeom prst="roundRect">
            <a:avLst>
              <a:gd name="adj" fmla="val 11905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572000" y="2130552"/>
            <a:ext cx="6949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 @api.py for security issues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752344"/>
            <a:ext cx="11274552" cy="713232"/>
          </a:xfrm>
          <a:prstGeom prst="roundRect">
            <a:avLst>
              <a:gd name="adj" fmla="val 1025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594360" y="2889504"/>
            <a:ext cx="438912" cy="438912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94360" y="288950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88720" y="282549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88720" y="313639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if/elif 체인 → 패턴/디스패치, 타입 힌트 추가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480560" y="2916936"/>
            <a:ext cx="7132320" cy="384048"/>
          </a:xfrm>
          <a:prstGeom prst="roundRect">
            <a:avLst>
              <a:gd name="adj" fmla="val 11905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572000" y="2916936"/>
            <a:ext cx="6949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Refactor @book_app.py into a cleaner structure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538728"/>
            <a:ext cx="11274552" cy="713232"/>
          </a:xfrm>
          <a:prstGeom prst="roundRect">
            <a:avLst>
              <a:gd name="adj" fmla="val 1025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594360" y="3675888"/>
            <a:ext cx="438912" cy="438912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94360" y="36758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88720" y="361188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88720" y="392277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에러 메시지 · 스택 트레이스 · 재현 단계 분석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480560" y="3703320"/>
            <a:ext cx="7132320" cy="384048"/>
          </a:xfrm>
          <a:prstGeom prst="roundRect">
            <a:avLst>
              <a:gd name="adj" fmla="val 11905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4572000" y="3703320"/>
            <a:ext cx="6949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does @main.py throw KeyError on line 42?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325112"/>
            <a:ext cx="11274552" cy="713232"/>
          </a:xfrm>
          <a:prstGeom prst="roundRect">
            <a:avLst>
              <a:gd name="adj" fmla="val 1025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594360" y="4462272"/>
            <a:ext cx="438912" cy="438912"/>
          </a:xfrm>
          <a:prstGeom prst="ellipse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594360" y="44622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188720" y="439826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Generation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188720" y="470916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엣지 케이스 포함한 pytest/unittest 자동 생성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480560" y="4489704"/>
            <a:ext cx="7132320" cy="384048"/>
          </a:xfrm>
          <a:prstGeom prst="roundRect">
            <a:avLst>
              <a:gd name="adj" fmla="val 11905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4572000" y="4489704"/>
            <a:ext cx="6949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 tests for @utils.py covering edge cases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5111496"/>
            <a:ext cx="11274552" cy="713232"/>
          </a:xfrm>
          <a:prstGeom prst="roundRect">
            <a:avLst>
              <a:gd name="adj" fmla="val 1025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594360" y="5248656"/>
            <a:ext cx="438912" cy="438912"/>
          </a:xfrm>
          <a:prstGeom prst="ellipse">
            <a:avLst/>
          </a:prstGeom>
          <a:solidFill>
            <a:srgbClr val="F778BA"/>
          </a:solidFill>
          <a:ln w="12700">
            <a:solidFill>
              <a:srgbClr val="F778B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594360" y="524865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188720" y="518464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Integration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188720" y="549554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커밋 메시지 · diff 리뷰 · 브랜치 전략 도움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480560" y="5276088"/>
            <a:ext cx="7132320" cy="384048"/>
          </a:xfrm>
          <a:prstGeom prst="roundRect">
            <a:avLst>
              <a:gd name="adj" fmla="val 11905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4572000" y="5276088"/>
            <a:ext cx="6949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diff | copilot -p "Summarize this diff"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7200" y="5852160"/>
            <a:ext cx="11274552" cy="502920"/>
          </a:xfrm>
          <a:prstGeom prst="roundRect">
            <a:avLst>
              <a:gd name="adj" fmla="val 14545"/>
            </a:avLst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640080" y="58521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/research 명령으로 GitHub와 웹 소스를 동시에 조사한 뒤 코드 작업으로 넘어가면 더 정확합니다.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CLI 입문 · 핵심 정리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772400" y="6492240"/>
            <a:ext cx="3959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Development Workflows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463040" cy="411480"/>
          </a:xfrm>
          <a:prstGeom prst="roundRect">
            <a:avLst>
              <a:gd name="adj" fmla="val 48889"/>
            </a:avLst>
          </a:prstGeom>
          <a:solidFill>
            <a:srgbClr val="F778BA"/>
          </a:solidFill>
          <a:ln w="12700">
            <a:solidFill>
              <a:srgbClr val="F778B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&amp; Custom Instructions — 전문가를 고용하기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agents · .agent.md · AGENTS.md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77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내장 에이전트 (5종)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2697480" cy="777240"/>
          </a:xfrm>
          <a:prstGeom prst="roundRect">
            <a:avLst>
              <a:gd name="adj" fmla="val 941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94360" y="2542032"/>
            <a:ext cx="457200" cy="457200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94360" y="25420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2468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276148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단계별 계획 수립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46120" y="2377440"/>
            <a:ext cx="2697480" cy="777240"/>
          </a:xfrm>
          <a:prstGeom prst="roundRect">
            <a:avLst>
              <a:gd name="adj" fmla="val 941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383280" y="2542032"/>
            <a:ext cx="457200" cy="457200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383280" y="25420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977640" y="2468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Code-Review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977640" y="276148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품질·보안 점검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246120"/>
            <a:ext cx="2697480" cy="777240"/>
          </a:xfrm>
          <a:prstGeom prst="roundRect">
            <a:avLst>
              <a:gd name="adj" fmla="val 941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594360" y="3410712"/>
            <a:ext cx="457200" cy="457200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94360" y="34107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88720" y="3337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88720" y="363016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AGENTS.md 자동 생성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46120" y="3246120"/>
            <a:ext cx="2697480" cy="777240"/>
          </a:xfrm>
          <a:prstGeom prst="roundRect">
            <a:avLst>
              <a:gd name="adj" fmla="val 941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3383280" y="3410712"/>
            <a:ext cx="457200" cy="457200"/>
          </a:xfrm>
          <a:prstGeom prst="ellipse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3383280" y="34107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977640" y="3337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977640" y="363016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코드베이스 탐색·맵핑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4114800"/>
            <a:ext cx="2697480" cy="777240"/>
          </a:xfrm>
          <a:prstGeom prst="roundRect">
            <a:avLst>
              <a:gd name="adj" fmla="val 941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594360" y="4279392"/>
            <a:ext cx="457200" cy="457200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594360" y="42793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188720" y="4206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88720" y="44988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병렬 서브태스크 분할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17920" y="1965960"/>
            <a:ext cx="5486400" cy="4206240"/>
          </a:xfrm>
          <a:prstGeom prst="roundRect">
            <a:avLst>
              <a:gd name="adj" fmla="val 217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6400800" y="20574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77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커스텀 에이전트 — .agent.md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00800" y="2468880"/>
            <a:ext cx="5120640" cy="2468880"/>
          </a:xfrm>
          <a:prstGeom prst="roundRect">
            <a:avLst>
              <a:gd name="adj" fmla="val 2222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6537960" y="2560320"/>
            <a:ext cx="48463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security-reviewer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OWASP top-10 점검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tools: [read, grep, web]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당신은 시니어 보안 엔지니어입니다.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 로 받은 파일을 OWASP 기준으로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분석하고 위험도를 표기하세요.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00800" y="4983480"/>
            <a:ext cx="51206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YAML frontmatter + 자유 markdown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/agent &lt;name&gt;  로 즉시 전환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AGENTS.md / .github/copilot-instructions.md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에 프로젝트 전역 규칙을 정의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CLI 입문 · 핵심 정리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772400" y="6492240"/>
            <a:ext cx="3959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Agents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463040" cy="411480"/>
          </a:xfrm>
          <a:prstGeom prst="roundRect">
            <a:avLst>
              <a:gd name="adj" fmla="val 48889"/>
            </a:avLst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— 자동으로 호출되는 전문 기능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SKILL.md · auto-trigger · /skills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SKILL.md 구조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5486400" cy="3749040"/>
          </a:xfrm>
          <a:prstGeom prst="roundRect">
            <a:avLst>
              <a:gd name="adj" fmla="val 243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40080" y="2560320"/>
            <a:ext cx="5120640" cy="3383280"/>
          </a:xfrm>
          <a:prstGeom prst="roundRect">
            <a:avLst>
              <a:gd name="adj" fmla="val 1622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77240" y="2651760"/>
            <a:ext cx="48463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pdf-extractor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PDF에서 텍스트와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표를 추출. 사용자가 "PDF" 를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언급하면 자동 호출.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triggers: [pdf, extract pdf]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When to use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PDF 파일이 input/ 에 있을 때.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How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1) pdfplumber 로 추출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2) output/ 에 markdown 저장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965960"/>
            <a:ext cx="5486400" cy="960120"/>
          </a:xfrm>
          <a:prstGeom prst="roundRect">
            <a:avLst>
              <a:gd name="adj" fmla="val 761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6217920" y="1965960"/>
            <a:ext cx="91440" cy="9601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446520" y="207568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호출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46520" y="246888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프롬프트가 description 과 매치되면 Copilot이 알아서 로드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3035808"/>
            <a:ext cx="5486400" cy="960120"/>
          </a:xfrm>
          <a:prstGeom prst="roundRect">
            <a:avLst>
              <a:gd name="adj" fmla="val 761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6217920" y="3035808"/>
            <a:ext cx="91440" cy="96012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446520" y="3145536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 호출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46520" y="3538728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/skills 로 목록 확인 · /&lt;skill-name&gt; 으로 명시적 실행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4105656"/>
            <a:ext cx="5486400" cy="960120"/>
          </a:xfrm>
          <a:prstGeom prst="roundRect">
            <a:avLst>
              <a:gd name="adj" fmla="val 761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6217920" y="4105656"/>
            <a:ext cx="91440" cy="96012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446520" y="4215384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vs Agents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46520" y="4608576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= 도구·절차 패키지 / Agent = 페르소나·작업 흐름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17920" y="5175504"/>
            <a:ext cx="5486400" cy="960120"/>
          </a:xfrm>
          <a:prstGeom prst="roundRect">
            <a:avLst>
              <a:gd name="adj" fmla="val 761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6217920" y="5175504"/>
            <a:ext cx="91440" cy="960120"/>
          </a:xfrm>
          <a:prstGeom prst="rect">
            <a:avLst/>
          </a:prstGeom>
          <a:solidFill>
            <a:srgbClr val="F778BA"/>
          </a:solidFill>
          <a:ln w="12700">
            <a:solidFill>
              <a:srgbClr val="F778B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446520" y="528523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어디에 두나?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46520" y="5678424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전역: ~/.copilot/skills/   |   프로젝트: .copilot/skills/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CLI 입문 · 핵심 정리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772400" y="6492240"/>
            <a:ext cx="3959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Skills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463040" cy="411480"/>
          </a:xfrm>
          <a:prstGeom prst="roundRect">
            <a:avLst>
              <a:gd name="adj" fmla="val 48889"/>
            </a:avLst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Servers — Copilot의 ‘브라우저 확장’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11274552" cy="1463040"/>
          </a:xfrm>
          <a:prstGeom prst="roundRect">
            <a:avLst>
              <a:gd name="adj" fmla="val 625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822960" y="2286000"/>
            <a:ext cx="2011680" cy="822960"/>
          </a:xfrm>
          <a:prstGeom prst="roundRect">
            <a:avLst>
              <a:gd name="adj" fmla="val 11111"/>
            </a:avLst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CLI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926080" y="228600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  MCP  ⇄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434840" y="2240280"/>
            <a:ext cx="2331720" cy="914400"/>
          </a:xfrm>
          <a:prstGeom prst="roundRect">
            <a:avLst>
              <a:gd name="adj" fmla="val 10000"/>
            </a:avLst>
          </a:prstGeom>
          <a:solidFill>
            <a:srgbClr val="0D1117"/>
          </a:solidFill>
          <a:ln w="1905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434840" y="22860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MCP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34840" y="26060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이슈 · PR · 워크플로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212080" y="2907792"/>
            <a:ext cx="777240" cy="201168"/>
          </a:xfrm>
          <a:prstGeom prst="roundRect">
            <a:avLst>
              <a:gd name="adj" fmla="val 22727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212080" y="2907792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903720" y="2240280"/>
            <a:ext cx="2331720" cy="914400"/>
          </a:xfrm>
          <a:prstGeom prst="roundRect">
            <a:avLst>
              <a:gd name="adj" fmla="val 10000"/>
            </a:avLst>
          </a:prstGeom>
          <a:solidFill>
            <a:srgbClr val="0D1117"/>
          </a:solidFill>
          <a:ln w="1905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903720" y="22860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Filesystem MCP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903720" y="26060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원격 디렉터리 접근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372600" y="2240280"/>
            <a:ext cx="2331720" cy="914400"/>
          </a:xfrm>
          <a:prstGeom prst="roundRect">
            <a:avLst>
              <a:gd name="adj" fmla="val 10000"/>
            </a:avLst>
          </a:prstGeom>
          <a:solidFill>
            <a:srgbClr val="0D1117"/>
          </a:solidFill>
          <a:ln w="1905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9372600" y="22860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Context7 MCP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372600" y="26060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최신 라이브러리 문서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611880"/>
            <a:ext cx="5486400" cy="2606040"/>
          </a:xfrm>
          <a:prstGeom prst="roundRect">
            <a:avLst>
              <a:gd name="adj" fmla="val 350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40080" y="37033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자주 쓰는 명령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" y="4114800"/>
            <a:ext cx="5120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/mcp                        설치된 MCP 서버 목록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/mcp show &lt;name&gt;            서버 상세 · 제공 도구 확인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/mcp auth &lt;name&gt;            OAuth로 로그인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/mcp add &lt;name&gt; &lt;url&gt;       새 MCP 서버 등록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/mcp remove &lt;name&gt;          제거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17920" y="3611880"/>
            <a:ext cx="5486400" cy="2606040"/>
          </a:xfrm>
          <a:prstGeom prst="roundRect">
            <a:avLst>
              <a:gd name="adj" fmla="val 350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400800" y="37033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MCP 가 중요한가?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00800" y="4114800"/>
            <a:ext cx="5120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Copilot 에 ‘새 능력’을 플러그인처럼 추가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사내 시스템(JIRA, DB, 모니터링)도 연결 가능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표준 프로토콜이라 모델 교체에도 영향 적음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Built-in GitHub MCP 만으로도 PR · 이슈 흐름이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대화 안에서 매끄럽게 이어짐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CLI 입문 · 핵심 정리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772400" y="6492240"/>
            <a:ext cx="3959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MCP Servers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463040" cy="411480"/>
          </a:xfrm>
          <a:prstGeom prst="roundRect">
            <a:avLst>
              <a:gd name="adj" fmla="val 48889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All Together — 오케스트라 지휘하기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→ PR in one session · /pr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21262D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🎼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371600" y="2057400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에이전트는 연주자, 스킬은 악기, MCP는 무대 장비, 모드는 지휘 스타일.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여러분(=사용자)은 지휘자입니다. 각 요소를 결합해 ‘아이디어 → PR’ 흐름을 한 세션에서 완성하세요.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1089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통합 워크플로 패턴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611880"/>
            <a:ext cx="2157984" cy="1691640"/>
          </a:xfrm>
          <a:prstGeom prst="roundRect">
            <a:avLst>
              <a:gd name="adj" fmla="val 432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261872" y="3749040"/>
            <a:ext cx="548640" cy="548640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261872" y="3749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48640" y="4389120"/>
            <a:ext cx="1975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Context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4754880"/>
            <a:ext cx="19751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 파일 · /research · MCP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69464" y="425196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706624" y="3611880"/>
            <a:ext cx="2157984" cy="1691640"/>
          </a:xfrm>
          <a:prstGeom prst="roundRect">
            <a:avLst>
              <a:gd name="adj" fmla="val 432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3511296" y="3749040"/>
            <a:ext cx="548640" cy="548640"/>
          </a:xfrm>
          <a:prstGeom prst="ellipse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511296" y="3749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798064" y="4389120"/>
            <a:ext cx="1975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&amp; Plan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798064" y="4754880"/>
            <a:ext cx="19751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/plan 으로 단계 검토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18888" y="425196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956048" y="3611880"/>
            <a:ext cx="2157984" cy="1691640"/>
          </a:xfrm>
          <a:prstGeom prst="roundRect">
            <a:avLst>
              <a:gd name="adj" fmla="val 432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5760720" y="3749040"/>
            <a:ext cx="548640" cy="548640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760720" y="3749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047488" y="4389120"/>
            <a:ext cx="1975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047488" y="4754880"/>
            <a:ext cx="19751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모드로 구현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068312" y="425196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7205472" y="3611880"/>
            <a:ext cx="2157984" cy="1691640"/>
          </a:xfrm>
          <a:prstGeom prst="roundRect">
            <a:avLst>
              <a:gd name="adj" fmla="val 432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8010144" y="3749040"/>
            <a:ext cx="548640" cy="548640"/>
          </a:xfrm>
          <a:prstGeom prst="ellipse">
            <a:avLst/>
          </a:prstGeom>
          <a:solidFill>
            <a:srgbClr val="F778BA"/>
          </a:solidFill>
          <a:ln w="12700">
            <a:solidFill>
              <a:srgbClr val="F778B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8010144" y="3749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296912" y="4389120"/>
            <a:ext cx="1975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296912" y="4754880"/>
            <a:ext cx="19751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에이전트 + pytest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317736" y="425196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9454896" y="3611880"/>
            <a:ext cx="2157984" cy="1691640"/>
          </a:xfrm>
          <a:prstGeom prst="roundRect">
            <a:avLst>
              <a:gd name="adj" fmla="val 432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10259568" y="3749040"/>
            <a:ext cx="548640" cy="548640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10259568" y="3749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9546336" y="4389120"/>
            <a:ext cx="1975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546336" y="4754880"/>
            <a:ext cx="19751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 로 PR 자동 생성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" y="5577840"/>
            <a:ext cx="11274552" cy="777240"/>
          </a:xfrm>
          <a:prstGeom prst="roundRect">
            <a:avLst>
              <a:gd name="adj" fmla="val 9412"/>
            </a:avLst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640080" y="557784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1371600" y="5577840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 명령은 변경 사항을 분석해 제목·본문·테스트 계획까지 작성합니다. 여러 에이전트를 /delegate 로 병렬 호출하면 한 번에 더 큰 작업을 처리할 수 있습니다.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CLI 입문 · 핵심 정리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772400" y="6492240"/>
            <a:ext cx="3959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Putting It All Together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411480" y="0"/>
            <a:ext cx="73152" cy="68580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1097280" y="54864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정리 &amp; 다음 단계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097280" y="13258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· What's Next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1920240"/>
            <a:ext cx="5212080" cy="1234440"/>
          </a:xfrm>
          <a:prstGeom prst="roundRect">
            <a:avLst>
              <a:gd name="adj" fmla="val 740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325880" y="2240280"/>
            <a:ext cx="594360" cy="594360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325880" y="22402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057400" y="21031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모드를 상황에 맞게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057400" y="256032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탐색은 Interactive · 큰 작업은 Plan · 자동화는 -p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46520" y="1920240"/>
            <a:ext cx="5212080" cy="1234440"/>
          </a:xfrm>
          <a:prstGeom prst="roundRect">
            <a:avLst>
              <a:gd name="adj" fmla="val 740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6675120" y="2240280"/>
            <a:ext cx="594360" cy="594360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675120" y="22402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406640" y="21031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 와 /clear 를 습관처럼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406640" y="256032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정확한 컨텍스트가 답변 품질의 80% 를 결정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97280" y="3291840"/>
            <a:ext cx="5212080" cy="1234440"/>
          </a:xfrm>
          <a:prstGeom prst="roundRect">
            <a:avLst>
              <a:gd name="adj" fmla="val 740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1325880" y="3611880"/>
            <a:ext cx="594360" cy="594360"/>
          </a:xfrm>
          <a:prstGeom prst="ellipse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325880" y="36118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057400" y="34747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· Skill · MCP 조합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057400" y="393192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역할(Agent) + 절차(Skill) + 외부 능력(MCP)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46520" y="3291840"/>
            <a:ext cx="5212080" cy="1234440"/>
          </a:xfrm>
          <a:prstGeom prst="roundRect">
            <a:avLst>
              <a:gd name="adj" fmla="val 740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6675120" y="3611880"/>
            <a:ext cx="594360" cy="594360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675120" y="36118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406640" y="34747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 까지 한 번에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406640" y="393192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아이디어 → 코드 → 테스트 → PR 을 한 세션에서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097280" y="4846320"/>
            <a:ext cx="10424160" cy="1280160"/>
          </a:xfrm>
          <a:prstGeom prst="roundRect">
            <a:avLst>
              <a:gd name="adj" fmla="val 8571"/>
            </a:avLst>
          </a:prstGeom>
          <a:solidFill>
            <a:srgbClr val="21262D"/>
          </a:solidFill>
          <a:ln w="1905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1371600" y="4937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단계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371600" y="530352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 copilot 을 실행하고 /help 로 전체 명령 살펴보기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 내 프로젝트에 AGENTS.md / .agent.md 작성 시작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 GitHub MCP 와 사내 도구를 /mcp add 로 연결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97280" y="63550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원본: github.com/taeyo-kim/copilot-cli-for-beginners (upstream: github/copilot-cli-for-beginners)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1416</Words>
  <Application>Microsoft Office PowerPoint</Application>
  <PresentationFormat>와이드스크린</PresentationFormat>
  <Paragraphs>284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Copilot CLI 입문 핵심 정리</dc:title>
  <dc:subject>PptxGenJS Presentation</dc:subject>
  <dc:creator>PptxGenJS</dc:creator>
  <cp:lastModifiedBy>Tae Young Kim</cp:lastModifiedBy>
  <cp:revision>3</cp:revision>
  <dcterms:created xsi:type="dcterms:W3CDTF">2026-04-23T08:27:21Z</dcterms:created>
  <dcterms:modified xsi:type="dcterms:W3CDTF">2026-04-27T05:46:41Z</dcterms:modified>
</cp:coreProperties>
</file>